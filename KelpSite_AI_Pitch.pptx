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4937760" cy="5088636"/>
          </a:xfrm>
          <a:prstGeom prst="rect">
            <a:avLst/>
          </a:prstGeom>
          <a:solidFill>
            <a:srgbClr val="050E1A"/>
          </a:solidFill>
          <a:ln w="12700">
            <a:solidFill>
              <a:srgbClr val="050E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37760" y="54864"/>
            <a:ext cx="4206240" cy="5088636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37760" y="54864"/>
            <a:ext cx="22860" cy="508863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6D6A0"/>
                </a:solidFill>
              </a:rPr>
              <a:t>OCEANTECH HACKATHON 2026  |  TRACK 2C  |  BLUE FRONTIER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02920"/>
            <a:ext cx="4206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0" b="1" dirty="0">
                <a:solidFill>
                  <a:srgbClr val="EF476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97%</a:t>
            </a:r>
            <a:endParaRPr lang="en-US" sz="104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8FF"/>
                </a:solidFill>
              </a:rPr>
              <a:t>of California's kelp forests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204825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8FF"/>
                </a:solidFill>
              </a:rPr>
              <a:t>have been lost.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2487168"/>
            <a:ext cx="1280160" cy="4114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33472"/>
            <a:ext cx="42062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90B8CC"/>
                </a:solidFill>
              </a:rPr>
              <a:t>Restoration practitioners know where kelp used to thrive — but identifying where it can survive again means weeks of manually cross-referencing NOAA, satellite imagery, KelpWatch, and GIS layers that don't talk to each other.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4206240" cy="786384"/>
          </a:xfrm>
          <a:prstGeom prst="rect">
            <a:avLst/>
          </a:prstGeom>
          <a:solidFill>
            <a:srgbClr val="071A2E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840480"/>
            <a:ext cx="45720" cy="78638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840480"/>
            <a:ext cx="39136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6D6A0"/>
                </a:solidFill>
              </a:rPr>
              <a:t>"The ocean cannot wait for spreadsheets."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138928" y="347472"/>
            <a:ext cx="3794760" cy="1389888"/>
          </a:xfrm>
          <a:prstGeom prst="rect">
            <a:avLst/>
          </a:prstGeom>
          <a:solidFill>
            <a:srgbClr val="07182A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138928" y="347472"/>
            <a:ext cx="50292" cy="138988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85232" y="43891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476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4+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236208" y="475488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8FF"/>
                </a:solidFill>
              </a:rPr>
              <a:t>Fragmented Data Sources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85232" y="1005840"/>
            <a:ext cx="3547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7AACBE"/>
                </a:solidFill>
              </a:rPr>
              <a:t>NOAA, KelpWatch, Copernicus, and GIS layers all need separate access — no unified view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138928" y="1901952"/>
            <a:ext cx="3794760" cy="1389888"/>
          </a:xfrm>
          <a:prstGeom prst="rect">
            <a:avLst/>
          </a:prstGeom>
          <a:solidFill>
            <a:srgbClr val="07182A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138928" y="1901952"/>
            <a:ext cx="50292" cy="138988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85232" y="199339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476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wk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236208" y="2029968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8FF"/>
                </a:solidFill>
              </a:rPr>
              <a:t>Manual Analysis Per Decision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85232" y="2560320"/>
            <a:ext cx="3547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7AACBE"/>
                </a:solidFill>
              </a:rPr>
              <a:t>Practitioners cross-reference datasets by hand, making each site decision slow and costly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138928" y="3456432"/>
            <a:ext cx="3794760" cy="1389888"/>
          </a:xfrm>
          <a:prstGeom prst="rect">
            <a:avLst/>
          </a:prstGeom>
          <a:solidFill>
            <a:srgbClr val="07182A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138928" y="3456432"/>
            <a:ext cx="50292" cy="138988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85232" y="354787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476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1x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236208" y="3584448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8FF"/>
                </a:solidFill>
              </a:rPr>
              <a:t>Expert-Dependent at Every Step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85232" y="4114800"/>
            <a:ext cx="3547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7AACBE"/>
                </a:solidFill>
              </a:rPr>
              <a:t>Restoration scales only as fast as individual expertise — limiting reach and impact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0" y="48463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7A96"/>
                </a:solidFill>
              </a:rPr>
              <a:t>Source: CDFW / Reef Check California  |  Film: Sequoias of the Sea (Blue Frontier)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2070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261872"/>
            <a:ext cx="9144000" cy="228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F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KelpSite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090672" y="109728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74980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B8CC"/>
                </a:solidFill>
              </a:rPr>
              <a:t>Turning fragmented ocean data into field-ready restoration decisions — in 60 seconds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406640" y="219456"/>
            <a:ext cx="1536192" cy="45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406640" y="219456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E1A"/>
                </a:solidFill>
              </a:rPr>
              <a:t>x Blue Frontier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417320"/>
            <a:ext cx="1993392" cy="1847088"/>
          </a:xfrm>
          <a:prstGeom prst="rect">
            <a:avLst/>
          </a:prstGeom>
          <a:solidFill>
            <a:srgbClr val="07182A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417320"/>
            <a:ext cx="199339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" y="1572768"/>
            <a:ext cx="493776" cy="292608"/>
          </a:xfrm>
          <a:prstGeom prst="rect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1572768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SST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700784" y="1572768"/>
            <a:ext cx="493776" cy="292608"/>
          </a:xfrm>
          <a:prstGeom prst="rect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00784" y="1572768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35%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02336" y="199339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0F8FF"/>
                </a:solidFill>
              </a:rPr>
              <a:t>Sea Surface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0F8FF"/>
                </a:solidFill>
              </a:rPr>
              <a:t>Temperature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02336" y="259689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ACBE"/>
                </a:solidFill>
              </a:rPr>
              <a:t>Optimal 10-15 C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ACBE"/>
                </a:solidFill>
              </a:rPr>
              <a:t>for giant kelp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450592" y="1417320"/>
            <a:ext cx="1993392" cy="1847088"/>
          </a:xfrm>
          <a:prstGeom prst="rect">
            <a:avLst/>
          </a:prstGeom>
          <a:solidFill>
            <a:srgbClr val="07182A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450592" y="1417320"/>
            <a:ext cx="1993392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78608" y="1572768"/>
            <a:ext cx="493776" cy="292608"/>
          </a:xfrm>
          <a:prstGeom prst="rect">
            <a:avLst/>
          </a:prstGeom>
          <a:solidFill>
            <a:srgbClr val="06D6A0">
              <a:alpha val="18000"/>
            </a:srgbClr>
          </a:solidFill>
          <a:ln w="12700">
            <a:solidFill>
              <a:srgbClr val="06D6A0">
                <a:alpha val="4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78608" y="1572768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D6A0"/>
                </a:solidFill>
              </a:rPr>
              <a:t>DPT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877056" y="1572768"/>
            <a:ext cx="493776" cy="292608"/>
          </a:xfrm>
          <a:prstGeom prst="rect">
            <a:avLst/>
          </a:prstGeom>
          <a:solidFill>
            <a:srgbClr val="06D6A0">
              <a:alpha val="18000"/>
            </a:srgbClr>
          </a:solidFill>
          <a:ln w="12700">
            <a:solidFill>
              <a:srgbClr val="06D6A0">
                <a:alpha val="4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77056" y="1572768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D6A0"/>
                </a:solidFill>
              </a:rPr>
              <a:t>25%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78608" y="199339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0F8FF"/>
                </a:solidFill>
              </a:rPr>
              <a:t>Water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0F8FF"/>
                </a:solidFill>
              </a:rPr>
              <a:t>Depth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578608" y="259689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ACBE"/>
                </a:solidFill>
              </a:rPr>
              <a:t>Viable zone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ACBE"/>
                </a:solidFill>
              </a:rPr>
              <a:t>5 - 30m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26864" y="1417320"/>
            <a:ext cx="1993392" cy="1847088"/>
          </a:xfrm>
          <a:prstGeom prst="rect">
            <a:avLst/>
          </a:prstGeom>
          <a:solidFill>
            <a:srgbClr val="07182A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26864" y="1417320"/>
            <a:ext cx="1993392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1572768"/>
            <a:ext cx="493776" cy="292608"/>
          </a:xfrm>
          <a:prstGeom prst="rect">
            <a:avLst/>
          </a:prstGeom>
          <a:solidFill>
            <a:srgbClr val="FFD166">
              <a:alpha val="18000"/>
            </a:srgbClr>
          </a:solidFill>
          <a:ln w="12700">
            <a:solidFill>
              <a:srgbClr val="FFD166">
                <a:alpha val="4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1572768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166"/>
                </a:solidFill>
              </a:rPr>
              <a:t>HST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53328" y="1572768"/>
            <a:ext cx="493776" cy="292608"/>
          </a:xfrm>
          <a:prstGeom prst="rect">
            <a:avLst/>
          </a:prstGeom>
          <a:solidFill>
            <a:srgbClr val="FFD166">
              <a:alpha val="18000"/>
            </a:srgbClr>
          </a:solidFill>
          <a:ln w="12700">
            <a:solidFill>
              <a:srgbClr val="FFD166">
                <a:alpha val="4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53328" y="1572768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166"/>
                </a:solidFill>
              </a:rPr>
              <a:t>30%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199339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0F8FF"/>
                </a:solidFill>
              </a:rPr>
              <a:t>Historical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0F8FF"/>
                </a:solidFill>
              </a:rPr>
              <a:t>Kelp Presence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754880" y="259689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ACBE"/>
                </a:solidFill>
              </a:rPr>
              <a:t>KelpWatch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ACBE"/>
                </a:solidFill>
              </a:rPr>
              <a:t>baseline records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803136" y="1417320"/>
            <a:ext cx="1993392" cy="1847088"/>
          </a:xfrm>
          <a:prstGeom prst="rect">
            <a:avLst/>
          </a:prstGeom>
          <a:solidFill>
            <a:srgbClr val="07182A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03136" y="1417320"/>
            <a:ext cx="1993392" cy="5486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31152" y="1572768"/>
            <a:ext cx="493776" cy="292608"/>
          </a:xfrm>
          <a:prstGeom prst="rect">
            <a:avLst/>
          </a:prstGeom>
          <a:solidFill>
            <a:srgbClr val="9B59B6">
              <a:alpha val="18000"/>
            </a:srgbClr>
          </a:solidFill>
          <a:ln w="12700">
            <a:solidFill>
              <a:srgbClr val="9B59B6">
                <a:alpha val="4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31152" y="1572768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B59B6"/>
                </a:solidFill>
              </a:rPr>
              <a:t>NUT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229600" y="1572768"/>
            <a:ext cx="493776" cy="292608"/>
          </a:xfrm>
          <a:prstGeom prst="rect">
            <a:avLst/>
          </a:prstGeom>
          <a:solidFill>
            <a:srgbClr val="9B59B6">
              <a:alpha val="18000"/>
            </a:srgbClr>
          </a:solidFill>
          <a:ln w="12700">
            <a:solidFill>
              <a:srgbClr val="9B59B6">
                <a:alpha val="4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0" y="1572768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59B6"/>
                </a:solidFill>
              </a:rPr>
              <a:t>10%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931152" y="199339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0F8FF"/>
                </a:solidFill>
              </a:rPr>
              <a:t>Nutrient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0F8FF"/>
                </a:solidFill>
              </a:rPr>
              <a:t>Proxy (Chl-a)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6931152" y="259689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ACBE"/>
                </a:solidFill>
              </a:rPr>
              <a:t>Chlorophyll-a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ACBE"/>
                </a:solidFill>
              </a:rPr>
              <a:t>from satellite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74320" y="3401568"/>
            <a:ext cx="8595360" cy="228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" y="3511296"/>
            <a:ext cx="2468880" cy="1316736"/>
          </a:xfrm>
          <a:prstGeom prst="rect">
            <a:avLst/>
          </a:prstGeom>
          <a:solidFill>
            <a:srgbClr val="100810"/>
          </a:solidFill>
          <a:ln w="12700">
            <a:solidFill>
              <a:srgbClr val="3A1A2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" y="3511296"/>
            <a:ext cx="2468880" cy="5029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2336" y="3602736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F476F"/>
                </a:solidFill>
              </a:rPr>
              <a:t>BEFORE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02336" y="3840480"/>
            <a:ext cx="22128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F476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Weeks</a:t>
            </a:r>
            <a:endParaRPr lang="en-US" sz="3200" dirty="0"/>
          </a:p>
        </p:txBody>
      </p:sp>
      <p:sp>
        <p:nvSpPr>
          <p:cNvPr id="47" name="Text 45"/>
          <p:cNvSpPr/>
          <p:nvPr/>
        </p:nvSpPr>
        <p:spPr>
          <a:xfrm>
            <a:off x="402336" y="4352544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5566"/>
                </a:solidFill>
              </a:rPr>
              <a:t>of manual GIS cross-referencing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852928" y="3730752"/>
            <a:ext cx="6949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D6A0"/>
                </a:solidFill>
              </a:rPr>
              <a:t>-&gt;</a:t>
            </a:r>
            <a:endParaRPr lang="en-US" sz="3000" dirty="0"/>
          </a:p>
        </p:txBody>
      </p:sp>
      <p:sp>
        <p:nvSpPr>
          <p:cNvPr id="49" name="Shape 47"/>
          <p:cNvSpPr/>
          <p:nvPr/>
        </p:nvSpPr>
        <p:spPr>
          <a:xfrm>
            <a:off x="3657600" y="3511296"/>
            <a:ext cx="2468880" cy="1316736"/>
          </a:xfrm>
          <a:prstGeom prst="rect">
            <a:avLst/>
          </a:prstGeom>
          <a:solidFill>
            <a:srgbClr val="071510"/>
          </a:solidFill>
          <a:ln w="12700">
            <a:solidFill>
              <a:srgbClr val="1A4A2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657600" y="3511296"/>
            <a:ext cx="2468880" cy="5029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785616" y="3602736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D6A0"/>
                </a:solidFill>
              </a:rPr>
              <a:t>WITH KELPSITE AI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785616" y="3840480"/>
            <a:ext cx="22128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 Sec</a:t>
            </a:r>
            <a:endParaRPr lang="en-US" sz="3200" dirty="0"/>
          </a:p>
        </p:txBody>
      </p:sp>
      <p:sp>
        <p:nvSpPr>
          <p:cNvPr id="53" name="Text 51"/>
          <p:cNvSpPr/>
          <p:nvPr/>
        </p:nvSpPr>
        <p:spPr>
          <a:xfrm>
            <a:off x="3785616" y="4352544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8A66"/>
                </a:solidFill>
              </a:rPr>
              <a:t>ranked site map, ready to deploy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291072" y="3511296"/>
            <a:ext cx="2578608" cy="1316736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37376" y="35661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</a:rPr>
              <a:t>Practitioners get: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437376" y="3895344"/>
            <a:ext cx="2331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950" dirty="0">
                <a:solidFill>
                  <a:srgbClr val="90B8CC"/>
                </a:solidFill>
              </a:rPr>
              <a:t>Ranked restoration site map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90B8CC"/>
                </a:solidFill>
              </a:rPr>
              <a:t>Composite viability score 0-100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90B8CC"/>
                </a:solidFill>
              </a:rPr>
              <a:t>Environmental drivers &amp; risk flags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90B8CC"/>
                </a:solidFill>
              </a:rPr>
              <a:t>Region and score threshold filters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040C18"/>
          </a:solidFill>
          <a:ln w="12700">
            <a:solidFill>
              <a:srgbClr val="040C1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7A96"/>
                </a:solidFill>
              </a:rPr>
              <a:t>Data: NOAA CoastWatch  |  KelpWatch (CDFW)  |  Copernicus SST  |  USGS Bathymetry  |  OceanTech Hackathon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KelpSite AI — Hackathon Pitch</dc:title>
  <dc:subject>PptxGenJS Presentation</dc:subject>
  <dc:creator>PptxGenJS</dc:creator>
  <cp:lastModifiedBy>PptxGenJS</cp:lastModifiedBy>
  <cp:revision>1</cp:revision>
  <dcterms:created xsi:type="dcterms:W3CDTF">2026-02-28T20:56:42Z</dcterms:created>
  <dcterms:modified xsi:type="dcterms:W3CDTF">2026-02-28T20:56:42Z</dcterms:modified>
</cp:coreProperties>
</file>